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HydroWatch Amur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BFD7EA"/>
                </a:solidFill>
                <a:latin typeface="Calibri"/>
              </a:rPr>
              <a:t>Динамика затопления по Sentinel-1 + Sentinel-2: вода «до» и «пик», зона нового затопления, площади и сервис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Вход: пара наблюдений «до / пик» (SAR VV,VH + опциональная оптика + рельеф/GSW). Выход: маски воды на две даты, маска нового затопления, площади в га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11 пар, 5 районов Амурской области, паводки 2019/2021 и межень 2018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Метрика: 0.45·Q_flood + 0.25·Q_peak + 0.15·Q_pre + 0.15·Spec_межень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Всепогодность SAR + точность оптики; сервис с картой, отчётом и REST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FD7EA"/>
                </a:solidFill>
                <a:latin typeface="Calibri"/>
              </a:rPr>
              <a:t>КосмоХакатон 2026 · кейс «Гидрологический мониторинг» · команда &lt;название команды&gt;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2. Что в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BFD7EA"/>
                </a:solidFill>
                <a:latin typeface="Calibri"/>
              </a:rPr>
              <a:t>HydroWatch Amur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EDA по 11 парам (REPORT §2)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Зона нового затопления — всего 0.02–2 % площади района: сильный дисбаланс классов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Пригодной оптики нет у 5 из 11 пар (облачность) → решение обязано работать на одном SAR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Разрыв SAR–оптика до 5 суток; между «до» и «пик» — ~6 недель: разность масок ловит сезонность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HAND: медиана 0.5 м под водой против 3.7 м на фоне — рельеф информативен, но не как жёсткий фильтр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σ⁰: VV бимодальна (вода ≈ −20…−24 дБ), VH ниже на 6–8 дБ и с меньшим контрастом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822960"/>
                <a:gridCol w="10058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Пара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flood, га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% AOI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оптика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Зея-2021 Свободный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2484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1.9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Поярково-2021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2167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Благовещенск-2021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883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0.7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Константиновка-2019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644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Белогорск-2019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да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Межень-2018 (3 пары)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25–197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≤0.2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1F3A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3. Почему не «Оцу по VV + разность масок»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BFD7EA"/>
                </a:solidFill>
                <a:latin typeface="Calibri"/>
              </a:rPr>
              <a:t>HydroWatch Amur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Ограничения классических подходов (REPORT §4)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3736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754880"/>
                <a:gridCol w="41148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Источник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Где ошибается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Следствие для площади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Calibri"/>
                        </a:rPr>
                        <a:t>SAR, порог по VV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Calibri"/>
                        </a:rPr>
                        <a:t>ветровая рябь, радиотени, гладкие сухие поверхности (пашня, асфальт)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Calibri"/>
                        </a:rPr>
                        <a:t>ложная «вода» на суше, пропуски на волнующейся воде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Calibri"/>
                        </a:rPr>
                        <a:t>Оптика, NDWI/MNDWI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Calibri"/>
                        </a:rPr>
                        <a:t>мутная паводковая вода, тени облаков, отсутствие снимка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Calibri"/>
                        </a:rPr>
                        <a:t>недооценка пика, дыры в покрытии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Calibri"/>
                        </a:rPr>
                        <a:t>Разность масок за 6 недель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Calibri"/>
                        </a:rPr>
                        <a:t>сезонный ход уровня, разные орбиты и углы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1F3A"/>
                          </a:solidFill>
                          <a:latin typeface="Calibri"/>
                        </a:rPr>
                        <a:t>«затопление» там, где просто изменился уровень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20624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Ошибки SAR и оптики независимы → объединять надо на уровне признаков, а не голосованием масок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Затопление — отдельная цель: сеть учится сразу трём картам (вода «до», вода «пик», прирост) с гидрологической связностью, а не арифметике порогов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Baseline «Оцу + разность» оставлен как нижняя граница шкалы в отчёте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4. Схема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BFD7EA"/>
                </a:solidFill>
                <a:latin typeface="Calibri"/>
              </a:rPr>
              <a:t>HydroWatch Amur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Siamese multimodal U-Net: два энкодера, temporal-признаки, три головы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11247120" cy="3017520"/>
          </a:xfrm>
          <a:prstGeom prst="rect">
            <a:avLst/>
          </a:prstGeom>
          <a:solidFill>
            <a:srgbClr val="F3F6FA"/>
          </a:solidFill>
          <a:ln>
            <a:solidFill>
              <a:srgbClr val="555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B1F3A"/>
                </a:solidFill>
                <a:latin typeface="Menlo"/>
              </a:rPr>
              <a:t>S1 pre/peak (VV,VH,|Δ|) ──► ResNet-18 (SAR) ─┐</a:t>
            </a:r>
          </a:p>
          <a:p>
            <a:r>
              <a:rPr sz="1100">
                <a:solidFill>
                  <a:srgbClr val="0B1F3A"/>
                </a:solidFill>
                <a:latin typeface="Menlo"/>
              </a:rPr>
              <a:t>S2 pre/peak (B03,B04,B08,B11) ► ResNet-18 (optical, SSL4EO-S12 MoCo) ─┤  → temporal-признаки pre / peak / Δ</a:t>
            </a:r>
          </a:p>
          <a:p>
            <a:r>
              <a:rPr sz="1100">
                <a:solidFill>
                  <a:srgbClr val="0B1F3A"/>
                </a:solidFill>
                <a:latin typeface="Menlo"/>
              </a:rPr>
              <a:t>AUX: HAND, уклон, GSW occurrence, WorldCover, флаг оптики ──────────────┘        на каждом масштабе</a:t>
            </a:r>
          </a:p>
          <a:p>
            <a:r>
              <a:rPr sz="1100">
                <a:solidFill>
                  <a:srgbClr val="0B1F3A"/>
                </a:solidFill>
                <a:latin typeface="Menlo"/>
              </a:rPr>
              <a:t>                                   │</a:t>
            </a:r>
          </a:p>
          <a:p>
            <a:r>
              <a:rPr sz="1100">
                <a:solidFill>
                  <a:srgbClr val="0B1F3A"/>
                </a:solidFill>
                <a:latin typeface="Menlo"/>
              </a:rPr>
              <a:t>                          U-Net decoder (skip-connections)</a:t>
            </a:r>
          </a:p>
          <a:p>
            <a:r>
              <a:rPr sz="1100">
                <a:solidFill>
                  <a:srgbClr val="0B1F3A"/>
                </a:solidFill>
                <a:latin typeface="Menlo"/>
              </a:rPr>
              <a:t>                                   │</a:t>
            </a:r>
          </a:p>
          <a:p>
            <a:r>
              <a:rPr sz="1100">
                <a:solidFill>
                  <a:srgbClr val="0B1F3A"/>
                </a:solidFill>
                <a:latin typeface="Menlo"/>
              </a:rPr>
              <a:t>        ┌──────────────────────────┼──────────────────────────┐</a:t>
            </a:r>
          </a:p>
          <a:p>
            <a:r>
              <a:rPr sz="1100">
                <a:solidFill>
                  <a:srgbClr val="0B1F3A"/>
                </a:solidFill>
                <a:latin typeface="Menlo"/>
              </a:rPr>
              <a:t>   вода «до» (σ)            вода «пик» (σ)          новое затопление (σ)</a:t>
            </a:r>
          </a:p>
          <a:p>
            <a:r>
              <a:rPr sz="1100">
                <a:solidFill>
                  <a:srgbClr val="0B1F3A"/>
                </a:solidFill>
                <a:latin typeface="Menlo"/>
              </a:rPr>
              <a:t>        └── пороги 0.95 / 0.78 / 0.95 (калибровка на отложенной Зее-2021) ──┘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Modality dropout 50 %: оптика случайно выключается при обучении → одна модель для пар с оптикой и без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Loss = focal Tversky + Dice/BCE + штраф за площадь + гидро-логика (flood ⊂ peak, flood ∩ pre = ∅)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Инференс окнами 384×384 (stride 256), AMP; веса best.pt (SHA-256 6c7ef209…2d06)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5. Эксперименты и результат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BFD7EA"/>
                </a:solidFill>
                <a:latin typeface="Calibri"/>
              </a:rPr>
              <a:t>HydroWatch Amur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Валидация по событию: Зея-2021 отложена целиком, seed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91640"/>
          <a:ext cx="58521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Эксперимент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 loss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Базовая модель с нуля (исправленные сцены)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0.614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Fine-tune лучшей ранней модели, lr 1e-5, 6 эп.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0.489 → 0.449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Калибровка порогов 0.95 / 0.78 / 0.95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Dice + площадь ↑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0" y="169164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Компонент метрики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11 пар (self-check)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Отложенная Зея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Q_flood (0.45)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0.699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0.53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Q_water_peak (0.25)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0.768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Q_water_pre (0.15)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0.680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Spec_base (0.15)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0.758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9768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Честная цифра — отложенная Зея: q_flood 0.53 при 3211 га прогноза против 2179 га в JSON эталона (и 2484 га по самой маске эталона)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Межень: flood = 0 по правилу события (event_kind), Spec_base = 1.0 без подгонки под эталон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Абляции тем же чекпоинтом: --ablation no_optical / no_aux, пороги 0.5 — команды в REPORT §6.2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6. Критика эталона и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BFD7EA"/>
                </a:solidFill>
                <a:latin typeface="Calibri"/>
              </a:rPr>
              <a:t>HydroWatch Amur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scripts/reference_audit.py — воспроизводимый аудит выданных масок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5 из 11 пар: маска воды почти не содержит постоянной воды GSW — сцены орбиты 105 покрывали AOI частично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F6B"/>
                </a:solidFill>
                <a:latin typeface="Calibri"/>
              </a:rPr>
              <a:t>– Константиновка-2021: «до» = 30 га при 5436 га постоянной воды реки; Благовещенск-2021: 2649 га при 7247 га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Зея-2021: JSON эталона 2179 га, а по самой маске эталона — 2484 га (+14 %)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flood эталона ≠ peak ∧ ¬pre ∧ ¬perm: расхождение до 1156 га (Благовещенск-2019) — фильтры уклон/HAND/MMU применены только к flood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Наш случай: Поярково — сцены орбиты 105 покрывали 0.3–0.4 % AOI → configs/scene_overrides.yaml заменяет их на орбиту 32 (100 %)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Вывод: часть «ошибки» модели — ошибка эталона; метрика по площадям не различает «где», только «сколько»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7. Сервис: карта, отчёт, выгрузки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BFD7EA"/>
                </a:solidFill>
                <a:latin typeface="Calibri"/>
              </a:rPr>
              <a:t>HydroWatch Amur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docker compose up → http://localhost:8000 · REST API /docs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6400800" cy="3931920"/>
          </a:xfrm>
          <a:prstGeom prst="rect">
            <a:avLst/>
          </a:prstGeom>
          <a:solidFill>
            <a:srgbClr val="F3F6FA"/>
          </a:solidFill>
          <a:ln>
            <a:solidFill>
              <a:srgbClr val="555F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6B"/>
                </a:solidFill>
              </a:rPr>
              <a:t>скриншот: карта со шторкой «до | пик»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645920"/>
            <a:ext cx="4663440" cy="3931920"/>
          </a:xfrm>
          <a:prstGeom prst="rect">
            <a:avLst/>
          </a:prstGeom>
          <a:solidFill>
            <a:srgbClr val="F3F6FA"/>
          </a:solidFill>
          <a:ln>
            <a:solidFill>
              <a:srgbClr val="555F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6B"/>
                </a:solidFill>
              </a:rPr>
              <a:t>скриншот: панель отчёта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1F3A"/>
                </a:solidFill>
                <a:latin typeface="Calibri"/>
              </a:rPr>
              <a:t>• Запрос: полигон/bbox + даты → подбор пары наблюдений; слои «до / пик / прирост / убыль», шторка, bbox мышью; Зея-2021: +3211 га прироста, 640 га убыли, +71 % зеркала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1F3A"/>
                </a:solidFill>
                <a:latin typeface="Calibri"/>
              </a:rPr>
              <a:t>• Отчёт JSON/CSV: га и км², доля от территории, разбивка по типам поверхности, профиль HAND; GeoJSON (EPSG:4326, id/type/area_ha), GeoTIFF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8. Продуктовый сценарий и обновление по новым сценам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BFD7EA"/>
                </a:solidFill>
                <a:latin typeface="Calibri"/>
              </a:rPr>
              <a:t>HydroWatch Amur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Кто пользуется и что пересчитывается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5760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Пользователь: дежурная смена ЦУКС / ЦГМС — решение нужно в часы после пролёта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Хранится: опорное состояние «до» (маска воды + дата + орбита), постоянная вода GSW, AUX-слои района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Новая S1-сцена → POST /api/observations: маска воды сравнивается с опорным состоянием, пересчитывается только разность и отчёт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Разные орбиты (32 / 105) — отдельные ряды наблюдений, чтобы не путать геометрию съёмки с изменением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1F3A"/>
                </a:solidFill>
                <a:latin typeface="Calibri"/>
              </a:rPr>
              <a:t>• Задержка: минуты на район 4000×4000; пересчёт «истории» не требуется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1737360"/>
          <a:ext cx="521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20040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Шаг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Что делает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Время</a:t>
                      </a:r>
                    </a:p>
                  </a:txBody>
                  <a:tcPr>
                    <a:solidFill>
                      <a:srgbClr val="1F77B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Пролёт S1 → выгрузка сцены на сетку AOI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≈ 10 мин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hydrowatch-predict (маски)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10–20 с (GPU)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POST /api/observations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&lt; 1 с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Отчёт, GeoJSON, карта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F3A"/>
                          </a:solidFill>
                          <a:latin typeface="Calibri"/>
                        </a:rPr>
                        <a:t>≈ 1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9. Воспроизводимость и ресурсы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BFD7EA"/>
                </a:solidFill>
                <a:latin typeface="Calibri"/>
              </a:rPr>
              <a:t>HydroWatch Amur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Одна команда на инференс, одна — на сервис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docker compose up --build → сервис; docker compose --profile inference run inference → submission.csv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uv sync --all-extras / pip install -e .; зависимости зафиксированы: pyproject.toml + uv.lock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seed 2026 везде; SHA-256 чекпоинта и всех артефактов (SHA256SUMS.txt); 22 теста, ruff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Инференс: окна 384/256, batch 4, AMP — ≈ 2–3 ГБ VRAM, 10–20 с на пару; CPU — минуты на пару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Сервис: &lt; 1 ГБ RAM, отчёт по паре ≈ 1 с на 2 vCPU; без датасета стартует (без разбивки по покрову)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1F3A"/>
                </a:solidFill>
                <a:latin typeface="Calibri"/>
              </a:rPr>
              <a:t>• Веса и маски — по ссылкам из README, доступ ≥ 10 рабочих дней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645920"/>
            <a:ext cx="4937760" cy="4480560"/>
          </a:xfrm>
          <a:prstGeom prst="rect">
            <a:avLst/>
          </a:prstGeom>
          <a:solidFill>
            <a:srgbClr val="F3F6FA"/>
          </a:solidFill>
          <a:ln>
            <a:solidFill>
              <a:srgbClr val="555F6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555F6B"/>
                </a:solidFill>
              </a:rPr>
              <a:t>скриншот: Swagger /docs или docker compose 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10. Ограничения и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74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BFD7EA"/>
                </a:solidFill>
                <a:latin typeface="Calibri"/>
              </a:rPr>
              <a:t>HydroWatch Amur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B"/>
                </a:solidFill>
                <a:latin typeface="Calibri"/>
              </a:rPr>
              <a:t>Что не решено и что делать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E63946"/>
                </a:solidFill>
                <a:latin typeface="Calibri"/>
              </a:rPr>
              <a:t>• Локальный угол падения не используется — сцены разных орбит нормализуются только статистически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E63946"/>
                </a:solidFill>
                <a:latin typeface="Calibri"/>
              </a:rPr>
              <a:t>• Затопленная растительность (double-bounce) не картируется как вода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E63946"/>
                </a:solidFill>
                <a:latin typeface="Calibri"/>
              </a:rPr>
              <a:t>• Переоценка на широких поймах (Поярково: 3367 против 2167 га) — размытая граница вода/влажная почва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E63946"/>
                </a:solidFill>
                <a:latin typeface="Calibri"/>
              </a:rPr>
              <a:t>• Пороги калиброваны на одном отложенном событии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F77B4"/>
                </a:solidFill>
                <a:latin typeface="Calibri"/>
              </a:rPr>
              <a:t>• Временной ряд S1 вместо пары: устойчивая опорная вода и сезонная норма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77B4"/>
                </a:solidFill>
                <a:latin typeface="Calibri"/>
              </a:rPr>
              <a:t>• Расширение выборки событиями 2013 и 2022 гг. (Амур, Зея, Бурея)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77B4"/>
                </a:solidFill>
                <a:latin typeface="Calibri"/>
              </a:rPr>
              <a:t>• Слой double-bounce (VV/VH + текстура) для затопленной растительности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77B4"/>
                </a:solidFill>
                <a:latin typeface="Calibri"/>
              </a:rPr>
              <a:t>• Агрегация по бассейнам и водомерным постам, связка с уровнями Росгидромета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F77B4"/>
                </a:solidFill>
                <a:latin typeface="Calibri"/>
              </a:rPr>
              <a:t>• Инкрементальный контур обновления — в продукт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