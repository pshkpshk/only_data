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0584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>
                <a:solidFill>
                  <a:srgbClr val="0A7AFF"/>
                </a:solidFill>
                <a:latin typeface="Helvetica Neue"/>
              </a:rPr>
              <a:t>HydroWatch Amur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111827"/>
                </a:solidFill>
                <a:latin typeface="Helvetica Neue"/>
              </a:rPr>
              <a:t>Динамика затопления по Sentinel-1 + Sentinel-2: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111827"/>
                </a:solidFill>
                <a:latin typeface="Helvetica Neue"/>
              </a:rPr>
              <a:t>вода «до» и «пик», зона нового затопления, площади и сервис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4160520"/>
            <a:ext cx="3108960" cy="438912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11 пар · 5 районов Приамурья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4160520"/>
            <a:ext cx="2743200" cy="438912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Score 0.768 на платформе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4160520"/>
            <a:ext cx="3291840" cy="438912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Helvetica Neue"/>
              </a:rPr>
              <a:t>docker compose up → карта +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7607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B7280"/>
                </a:solidFill>
                <a:latin typeface="Helvetica Neue"/>
              </a:rPr>
              <a:t>КосмоХакатон 2026 · кейс «Гидрологический мониторинг» · команда Тест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29184"/>
            <a:ext cx="102257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Задача и метрика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Пара наблюдений «до / пик» → три карты и три площади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11535" cy="12700"/>
          </a:xfrm>
          <a:prstGeom prst="rect">
            <a:avLst/>
          </a:prstGeom>
          <a:solidFill>
            <a:srgbClr val="D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HydroWatch Amur · КосмоХакатон 2026 · кейс «Гидрологический мониторинг»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A7AFF"/>
                </a:solidFill>
                <a:latin typeface="Helvetica Neue"/>
              </a:rPr>
              <a:t>2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3454298" cy="20116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1847088"/>
            <a:ext cx="3051962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Вход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94560"/>
            <a:ext cx="3051962" cy="12618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Sentinel-1 GRD: VV, VH на две даты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Sentinel-2 (если нет облаков): B03, B04, B08, B11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Рельеф HAND/уклон, JRC GSW, ESA WorldCover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645920"/>
            <a:ext cx="3454298" cy="20116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69866" y="1847088"/>
            <a:ext cx="3051962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Выход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866" y="2194560"/>
            <a:ext cx="3051962" cy="12618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Маска воды на дату «до»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Маска воды на дату «пик»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Маска нового затопления → площади, га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645920"/>
            <a:ext cx="3454298" cy="20116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98484" y="1847088"/>
            <a:ext cx="3051962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Проверка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8484" y="2194560"/>
            <a:ext cx="3051962" cy="12618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11 пар: 8 паводковых + 3 межени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Маски uint8 на сетке эталона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Площадь по маске = площадь в 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40"/>
            <a:ext cx="10911535" cy="1371600"/>
          </a:xfrm>
          <a:prstGeom prst="roundRect">
            <a:avLst>
              <a:gd name="adj" fmla="val 8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1036289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Helvetica Neue"/>
              </a:rPr>
              <a:t>Score = 0.45 · Q_flood + 0.25 · Q_peak + 0.15 · Q_pre + 0.15 · Spec_межень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1036289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Helvetica Neue"/>
              </a:rPr>
              <a:t>q = 1 − |ошибка площади| / max(эталон, порог); порог 50 га для затопления, 200 га для зеркала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77840"/>
            <a:ext cx="109115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Главное — площадь нового затопления (45 %); межень штрафует ложные срабатывания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29184"/>
            <a:ext cx="102257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Что в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EDA по 11 парам — REPORT.md §2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11535" cy="12700"/>
          </a:xfrm>
          <a:prstGeom prst="rect">
            <a:avLst/>
          </a:prstGeom>
          <a:solidFill>
            <a:srgbClr val="D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HydroWatch Amur · КосмоХакатон 2026 · кейс «Гидрологический мониторинг»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A7AFF"/>
                </a:solidFill>
                <a:latin typeface="Helvetica Neue"/>
              </a:rPr>
              <a:t>3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2556433" cy="237744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1847088"/>
            <a:ext cx="2154097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A7AFF"/>
                </a:solidFill>
                <a:latin typeface="Helvetica Neue"/>
              </a:rPr>
              <a:t>0.02–2 %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78608"/>
            <a:ext cx="2154097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площади района — новое затопление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00400"/>
            <a:ext cx="2154097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сильный дисбаланс классов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5113" y="1645920"/>
            <a:ext cx="2556433" cy="237744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626281" y="1847088"/>
            <a:ext cx="2154097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A7AFF"/>
                </a:solidFill>
                <a:latin typeface="Helvetica Neue"/>
              </a:rPr>
              <a:t>5 из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6281" y="2578608"/>
            <a:ext cx="2154097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пар без пригодной оптики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6281" y="3200400"/>
            <a:ext cx="2154097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решение обязано работать на одном SAR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0147" y="1645920"/>
            <a:ext cx="2556433" cy="237744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11315" y="1847088"/>
            <a:ext cx="2154097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0A7AFF"/>
                </a:solidFill>
                <a:latin typeface="Helvetica Neue"/>
              </a:rPr>
              <a:t>6 недель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1315" y="2578608"/>
            <a:ext cx="2154097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между «до» и «пик»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1315" y="2926080"/>
            <a:ext cx="2154097" cy="8961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разность масок ловит сезонность, а не паводок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95181" y="1645920"/>
            <a:ext cx="2556433" cy="237744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96349" y="1847088"/>
            <a:ext cx="2154097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0A7AFF"/>
                </a:solidFill>
                <a:latin typeface="Helvetica Neue"/>
              </a:rPr>
              <a:t>0.5 / 3.7 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6349" y="2578608"/>
            <a:ext cx="2154097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медиана HAND: вода / фон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6349" y="3200400"/>
            <a:ext cx="2154097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рельеф — признак, но не жёсткий фильтр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343400"/>
            <a:ext cx="10911535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Helvetica Neue"/>
              </a:rPr>
              <a:t>—  σ⁰: VV бимодальна (вода ≈ −20…−24 дБ); VH ниже на 6–8 дБ и с меньшим контрастом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Helvetica Neue"/>
              </a:rPr>
              <a:t>—  Разрыв SAR–оптика до 5 суток; сцены двух орбит (32 и 105) с разной геометрией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Helvetica Neue"/>
              </a:rPr>
              <a:t>—  Эталон: 3 источника (GSW / консенсус / GFM) — не однородный, см. слайд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29184"/>
            <a:ext cx="102257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Почему не «порог Оцу + разность масок»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Ошибки SAR и оптики независимы — объединять надо признаки, а не маски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11535" cy="12700"/>
          </a:xfrm>
          <a:prstGeom prst="rect">
            <a:avLst/>
          </a:prstGeom>
          <a:solidFill>
            <a:srgbClr val="D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HydroWatch Amur · КосмоХакатон 2026 · кейс «Гидрологический мониторинг»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A7AFF"/>
                </a:solidFill>
                <a:latin typeface="Helvetica Neue"/>
              </a:rPr>
              <a:t>4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3454298" cy="2286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1847088"/>
            <a:ext cx="3051962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SAR, порог по VV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94560"/>
            <a:ext cx="3051962" cy="15361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ветровая рябь и радиотени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гладкие сухие поверхности — «вода»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пропуски на волнующейся воде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1645920"/>
            <a:ext cx="3454298" cy="2286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69866" y="1847088"/>
            <a:ext cx="3051962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Оптика, NDWI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9866" y="2194560"/>
            <a:ext cx="3051962" cy="15361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мутная паводковая вода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тени облаков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снимка часто просто нет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645920"/>
            <a:ext cx="3454298" cy="2286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98484" y="1847088"/>
            <a:ext cx="3051962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Разность за 6 недель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8484" y="2194560"/>
            <a:ext cx="3051962" cy="15361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сезонный ход уровня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разные орбиты и углы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«затопление» = любое изменение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51960"/>
            <a:ext cx="10911535" cy="1234440"/>
          </a:xfrm>
          <a:prstGeom prst="roundRect">
            <a:avLst>
              <a:gd name="adj" fmla="val 1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" y="4389120"/>
            <a:ext cx="10362895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elvetica Neue"/>
              </a:rPr>
              <a:t>Наш ответ: одна сеть видит оба сенсора и рельеф одновременно,</a:t>
            </a:r>
          </a:p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elvetica Neue"/>
              </a:rPr>
              <a:t>а новое затопление предсказывает отдельной головой с гидрологической логикой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29184"/>
            <a:ext cx="102257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Схема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Siamese multimodal U-Net: два энкодера · temporal-признаки · три головы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11535" cy="12700"/>
          </a:xfrm>
          <a:prstGeom prst="rect">
            <a:avLst/>
          </a:prstGeom>
          <a:solidFill>
            <a:srgbClr val="D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HydroWatch Amur · КосмоХакатон 2026 · кейс «Гидрологический мониторинг»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A7AFF"/>
                </a:solidFill>
                <a:latin typeface="Helvetica Neue"/>
              </a:rPr>
              <a:t>5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2286000" cy="96012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1892808"/>
            <a:ext cx="1883664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S1 «до» / «пик»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240280"/>
            <a:ext cx="1883664" cy="2103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VV, VH, |Δ|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15768"/>
            <a:ext cx="2286000" cy="96012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248" y="2916936"/>
            <a:ext cx="1883664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S2 «до» / «пик»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264408"/>
            <a:ext cx="1883664" cy="2103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B03 B04 B08 B11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39896"/>
            <a:ext cx="2286000" cy="96012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41248" y="3941064"/>
            <a:ext cx="1883664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AUX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288536"/>
            <a:ext cx="1883664" cy="21031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HAND · GSW · уклон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1691640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447288" y="182880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ResNet-18 · SAR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2194560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Helvetica Neue"/>
              </a:rPr>
              <a:t>обучен с нуля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926080" y="2039112"/>
            <a:ext cx="384048" cy="256032"/>
          </a:xfrm>
          <a:prstGeom prst="rightArrow">
            <a:avLst/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10128" y="2715768"/>
            <a:ext cx="2286000" cy="960120"/>
          </a:xfrm>
          <a:prstGeom prst="roundRect">
            <a:avLst>
              <a:gd name="adj" fmla="val 1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447288" y="2852928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Helvetica Neue"/>
              </a:rPr>
              <a:t>ResNet-18 · оптика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47288" y="3218688"/>
            <a:ext cx="20116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Helvetica Neue"/>
              </a:rPr>
              <a:t>SSL4EO-S12 MoCo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926080" y="3063240"/>
            <a:ext cx="384048" cy="256032"/>
          </a:xfrm>
          <a:prstGeom prst="rightArrow">
            <a:avLst/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980176" y="1691640"/>
            <a:ext cx="2286000" cy="1984248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181344" y="1892808"/>
            <a:ext cx="1883664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Temporal-признаки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81344" y="2240280"/>
            <a:ext cx="1883664" cy="1234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pre · peak · Δ на каждом масштабе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+ AUX (HAND, GSW, WorldCover)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+ флаг наличия оптики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5596128" y="2555748"/>
            <a:ext cx="384048" cy="256032"/>
          </a:xfrm>
          <a:prstGeom prst="rightArrow">
            <a:avLst/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50224" y="1691640"/>
            <a:ext cx="2286000" cy="1984248"/>
          </a:xfrm>
          <a:prstGeom prst="roundRect">
            <a:avLst>
              <a:gd name="adj" fmla="val 10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787384" y="1874520"/>
            <a:ext cx="20116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Helvetica Neue"/>
              </a:rPr>
              <a:t>U-Net decoder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7384" y="2377440"/>
            <a:ext cx="201168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Helvetica Neue"/>
              </a:rPr>
              <a:t>skip-connections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Helvetica Neue"/>
              </a:rPr>
              <a:t>окна 384×384, stride 256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Helvetica Neue"/>
              </a:rPr>
              <a:t>modality dropout 50 %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266176" y="2555748"/>
            <a:ext cx="384048" cy="256032"/>
          </a:xfrm>
          <a:prstGeom prst="rightArrow">
            <a:avLst/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4928616"/>
            <a:ext cx="3515258" cy="713232"/>
          </a:xfrm>
          <a:prstGeom prst="roundRect">
            <a:avLst>
              <a:gd name="adj" fmla="val 20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4983480"/>
            <a:ext cx="351525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A7AFF"/>
                </a:solidFill>
                <a:latin typeface="Helvetica Neue"/>
              </a:rPr>
              <a:t>вода «до»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12664"/>
            <a:ext cx="351525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порог 0.95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38218" y="4928616"/>
            <a:ext cx="3515258" cy="713232"/>
          </a:xfrm>
          <a:prstGeom prst="roundRect">
            <a:avLst>
              <a:gd name="adj" fmla="val 20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338218" y="4983480"/>
            <a:ext cx="351525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A7AFF"/>
                </a:solidFill>
                <a:latin typeface="Helvetica Neue"/>
              </a:rPr>
              <a:t>вода «пик»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8218" y="5312664"/>
            <a:ext cx="351525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порог 0.78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36356" y="4928616"/>
            <a:ext cx="3515258" cy="713232"/>
          </a:xfrm>
          <a:prstGeom prst="roundRect">
            <a:avLst>
              <a:gd name="adj" fmla="val 20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036356" y="4983480"/>
            <a:ext cx="351525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A7AFF"/>
                </a:solidFill>
                <a:latin typeface="Helvetica Neue"/>
              </a:rPr>
              <a:t>новое затопление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36356" y="5312664"/>
            <a:ext cx="3515258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порог 0.95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751576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Loss: focal Tversky + Dice/BCE + штраф за площадь + логика (затопление ⊂ пик, ∩ «до» = ∅)  ·  пороги калиброваны на отложенной Зее-2021  ·  веса best.pt, SHA-256 6c7ef209…2d06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29184"/>
            <a:ext cx="102257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Валидация по событию: Зея-2021 отложена целиком · seed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11535" cy="12700"/>
          </a:xfrm>
          <a:prstGeom prst="rect">
            <a:avLst/>
          </a:prstGeom>
          <a:solidFill>
            <a:srgbClr val="D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HydroWatch Amur · КосмоХакатон 2026 · кейс «Гидрологический мониторинг»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A7AFF"/>
                </a:solidFill>
                <a:latin typeface="Helvetica Neue"/>
              </a:rPr>
              <a:t>6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1847088"/>
            <a:ext cx="2889504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A7AFF"/>
                </a:solidFill>
                <a:latin typeface="Helvetica Neue"/>
              </a:rPr>
              <a:t>0.768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78608"/>
            <a:ext cx="2889504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Score на платформе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926080"/>
            <a:ext cx="2889504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официальный сабмит, 11 пар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645920"/>
            <a:ext cx="3291840" cy="210312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61688" y="1847088"/>
            <a:ext cx="2889504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A7AFF"/>
                </a:solidFill>
                <a:latin typeface="Helvetica Neue"/>
              </a:rPr>
              <a:t>0.758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578608"/>
            <a:ext cx="2889504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Self-check по эталону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926080"/>
            <a:ext cx="2889504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scripts/reference_audit.py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645920"/>
            <a:ext cx="3870655" cy="210312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882128" y="1847088"/>
            <a:ext cx="3468319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Отложенная Зея-2021 (честная цифра)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2128" y="2468880"/>
            <a:ext cx="3468319" cy="10789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q_flood 0.53 · q_peak 0.57 · q_pre 1.00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3211 га прогноза против 2179 га в JSON эталона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(2484 га по самой маске эталона)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Компонент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02336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Вес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023360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Значение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334256"/>
            <a:ext cx="4846320" cy="12700"/>
          </a:xfrm>
          <a:prstGeom prst="rect">
            <a:avLst/>
          </a:prstGeom>
          <a:solidFill>
            <a:srgbClr val="D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0080" y="4352544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Q_flood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352544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0.45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352544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0.699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681728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Q_water_peak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681728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0.25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681728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0.768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010912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Q_water_pre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010912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0.15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5010912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0.680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340096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Spec_base (межень)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340096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11827"/>
                </a:solidFill>
                <a:latin typeface="Helvetica Neue"/>
              </a:rPr>
              <a:t>0.15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5340096"/>
            <a:ext cx="10972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1.000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023360"/>
            <a:ext cx="5242255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11827"/>
                </a:solidFill>
                <a:latin typeface="Helvetica Neue"/>
              </a:rPr>
              <a:t>—  Fine-tune лучшей ранней модели: val loss 0.489 → 0.449 (с нуля — 0.614)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11827"/>
                </a:solidFill>
                <a:latin typeface="Helvetica Neue"/>
              </a:rPr>
              <a:t>—  Межень: flood = 0 по типу события, Spec = 1.0 без подгонки под эталон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11827"/>
                </a:solidFill>
                <a:latin typeface="Helvetica Neue"/>
              </a:rPr>
              <a:t>—  Абляции тем же чекпоинтом: --ablation no_optical / no_aux (REPORT §6.2)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29184"/>
            <a:ext cx="102257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Критика эталона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Воспроизводимый аудит: scripts/reference_audit.py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11535" cy="12700"/>
          </a:xfrm>
          <a:prstGeom prst="rect">
            <a:avLst/>
          </a:prstGeom>
          <a:solidFill>
            <a:srgbClr val="D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HydroWatch Amur · КосмоХакатон 2026 · кейс «Гидрологический мониторинг»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A7AFF"/>
                </a:solidFill>
                <a:latin typeface="Helvetica Neue"/>
              </a:rPr>
              <a:t>7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3454298" cy="24688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1847088"/>
            <a:ext cx="3051962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A7AFF"/>
                </a:solidFill>
                <a:latin typeface="Helvetica Neue"/>
              </a:rPr>
              <a:t>5 из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78608"/>
            <a:ext cx="3051962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масок воды почти без постоянной воды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00400"/>
            <a:ext cx="3051962" cy="7132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сцены орбиты 105 покрывали район частично: Константиновка-2021 — 30 га «до» при 5436 га реки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645920"/>
            <a:ext cx="3454298" cy="24688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69866" y="1847088"/>
            <a:ext cx="3051962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A7AFF"/>
                </a:solidFill>
                <a:latin typeface="Helvetica Neue"/>
              </a:rPr>
              <a:t>+14 %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9866" y="2578608"/>
            <a:ext cx="3051962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Зея-2021: JSON 2179 га, маска 2484 га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9866" y="3200400"/>
            <a:ext cx="3051962" cy="7132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какую цифру считать эталоном?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7316" y="1645920"/>
            <a:ext cx="3454298" cy="24688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98484" y="1847088"/>
            <a:ext cx="3051962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0A7AFF"/>
                </a:solidFill>
                <a:latin typeface="Helvetica Neue"/>
              </a:rPr>
              <a:t>1156 га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8484" y="2578608"/>
            <a:ext cx="3051962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7AFF"/>
                </a:solidFill>
                <a:latin typeface="Helvetica Neue"/>
              </a:rPr>
              <a:t>flood ≠ peak ∧ ¬pre ∧ ¬perm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8484" y="2926080"/>
            <a:ext cx="3051962" cy="9875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фильтры уклон/HAND/MMU применены только к flood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89120"/>
            <a:ext cx="10911535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Helvetica Neue"/>
              </a:rPr>
              <a:t>—  Наш случай: Поярково — сцены орбиты 105 покрывали 0.3–0.4 % района → scene_overrides.yaml, орбита 32 (100 %)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Helvetica Neue"/>
              </a:rPr>
              <a:t>—  Вывод: часть «ошибки» модели — ошибка эталона; метрика по площадям видит «сколько», но не «где»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29184"/>
            <a:ext cx="102257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Сервис: карта, отчёт,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docker compose up --build → http://localhost:8000 · Swagger /docs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11535" cy="12700"/>
          </a:xfrm>
          <a:prstGeom prst="rect">
            <a:avLst/>
          </a:prstGeom>
          <a:solidFill>
            <a:srgbClr val="D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HydroWatch Amur · КосмоХакатон 2026 · кейс «Гидрологический мониторинг»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A7AFF"/>
                </a:solidFill>
                <a:latin typeface="Helvetica Neue"/>
              </a:rPr>
              <a:t>8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6583680" cy="35661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 w="12700">
            <a:solidFill>
              <a:srgbClr val="D6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B7280"/>
                </a:solidFill>
                <a:latin typeface="Helvetica Neue"/>
              </a:rPr>
              <a:t>скриншот 01_map_swipe.png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2360" y="1645920"/>
            <a:ext cx="4099255" cy="35661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 w="12700">
            <a:solidFill>
              <a:srgbClr val="D6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B7280"/>
                </a:solidFill>
                <a:latin typeface="Helvetica Neue"/>
              </a:rPr>
              <a:t>скриншот 02_report_panel.png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394959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полигон / bbox + даты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5808" y="5394959"/>
            <a:ext cx="3749039" cy="365760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слои «до · пик · прирост · убыль», шторка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94575" y="5394959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отчёт JSON / CSV, GeoJSON, GeoTIFF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96143" y="5394959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REST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7280"/>
                </a:solidFill>
                <a:latin typeface="Helvetica Neue"/>
              </a:rPr>
              <a:t>Зея-2021: прирост 3211 га, убыль 640 га, зеркало +71 % · разбивка по типам поверхности и профиль HAND · ответ по району ≈ 1 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29184"/>
            <a:ext cx="102257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Обновление по новым сценам и воспроизводимость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1153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B7280"/>
                </a:solidFill>
                <a:latin typeface="Helvetica Neue"/>
              </a:rPr>
              <a:t>Пользователь — дежурная смена ЦУКС / ЦГМС: решение в часы после пролёта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10911535" cy="12700"/>
          </a:xfrm>
          <a:prstGeom prst="rect">
            <a:avLst/>
          </a:prstGeom>
          <a:solidFill>
            <a:srgbClr val="D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HydroWatch Amur · КосмоХакатон 2026 · кейс «Гидрологический мониторинг»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A7AFF"/>
                </a:solidFill>
                <a:latin typeface="Helvetica Neue"/>
              </a:rPr>
              <a:t>9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1543050" cy="173736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41148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126873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Пролёт S1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126873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выгрузка на сетку района, ≈ 10 мин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20290" y="1645920"/>
            <a:ext cx="1543050" cy="173736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2457450" y="1783080"/>
            <a:ext cx="41148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7450" y="2194560"/>
            <a:ext cx="126873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Маски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7450" y="2560320"/>
            <a:ext cx="126873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hydrowatch-predict, 10–20 с на GPU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00500" y="1645920"/>
            <a:ext cx="1543050" cy="173736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4137660" y="1783080"/>
            <a:ext cx="41148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7660" y="2194560"/>
            <a:ext cx="126873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POST /api/observations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7660" y="2560320"/>
            <a:ext cx="126873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сравнение с опорным «до», &lt; 1 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80710" y="1645920"/>
            <a:ext cx="1543050" cy="1737360"/>
          </a:xfrm>
          <a:prstGeom prst="roundRect">
            <a:avLst>
              <a:gd name="adj" fmla="val 10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817870" y="1783080"/>
            <a:ext cx="41148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Helvetica Neue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17870" y="2194560"/>
            <a:ext cx="126873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7AFF"/>
                </a:solidFill>
                <a:latin typeface="Helvetica Neue"/>
              </a:rPr>
              <a:t>Отчёт и карта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7870" y="2560320"/>
            <a:ext cx="126873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Helvetica Neue"/>
              </a:rPr>
              <a:t>пересчитывается только разность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611880"/>
            <a:ext cx="658368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11827"/>
                </a:solidFill>
                <a:latin typeface="Helvetica Neue"/>
              </a:rPr>
              <a:t>—  Хранится: опорное состояние «до», постоянная вода GSW, AUX; разные орбиты — отдельные ряды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11827"/>
                </a:solidFill>
                <a:latin typeface="Helvetica Neue"/>
              </a:rPr>
              <a:t>—  docker compose up · uv.lock + pyproject · seed 2026 · SHA-256 весов и артефактов · 22 теста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11827"/>
                </a:solidFill>
                <a:latin typeface="Helvetica Neue"/>
              </a:rPr>
              <a:t>—  Инференс ≈ 2–3 ГБ VRAM, 10–20 с на пару; сервис &lt; 1 ГБ RAM; доступ к весам ≥ 10 рабочих дней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1645920"/>
            <a:ext cx="4099255" cy="429768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 w="12700">
            <a:solidFill>
              <a:srgbClr val="D6E6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6B7280"/>
                </a:solidFill>
                <a:latin typeface="Helvetica Neue"/>
              </a:rPr>
              <a:t>скриншот 03_swagger.png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640080" y="411480"/>
            <a:ext cx="548640" cy="329184"/>
          </a:xfrm>
          <a:prstGeom prst="roundRect">
            <a:avLst>
              <a:gd name="adj" fmla="val 50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Helvetica Neue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29184"/>
            <a:ext cx="1022573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11827"/>
                </a:solidFill>
                <a:latin typeface="Helvetica Neue"/>
              </a:rPr>
              <a:t>Ограничения и развитие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11535" cy="12700"/>
          </a:xfrm>
          <a:prstGeom prst="rect">
            <a:avLst/>
          </a:prstGeom>
          <a:solidFill>
            <a:srgbClr val="D6E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Helvetica Neue"/>
              </a:rPr>
              <a:t>HydroWatch Amur · КосмоХакатон 2026 · кейс «Гидрологический мониторинг»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37215" y="64008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1">
                <a:solidFill>
                  <a:srgbClr val="0A7AFF"/>
                </a:solidFill>
                <a:latin typeface="Helvetica Neue"/>
              </a:rPr>
              <a:t>10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18607" cy="40233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69967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6B7280"/>
                </a:solidFill>
                <a:latin typeface="Helvetica Neue"/>
              </a:rPr>
              <a:t>Что не решено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4769967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Helvetica Neue"/>
              </a:rPr>
              <a:t>—  Локальный угол падения не используется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Helvetica Neue"/>
              </a:rPr>
              <a:t>—  Затопленная растительность (double-bounce) не картируется как вода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Helvetica Neue"/>
              </a:rPr>
              <a:t>—  Переоценка на широких поймах: Поярково 3367 га против 2167 га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Helvetica Neue"/>
              </a:rPr>
              <a:t>—  Пороги калиброваны на одном отложенном событии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45920"/>
            <a:ext cx="5318607" cy="4023360"/>
          </a:xfrm>
          <a:prstGeom prst="roundRect">
            <a:avLst>
              <a:gd name="adj" fmla="val 6000"/>
            </a:avLst>
          </a:prstGeom>
          <a:solidFill>
            <a:srgbClr val="0A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07327" y="1828800"/>
            <a:ext cx="4769967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Helvetica Neue"/>
              </a:rPr>
              <a:t>Что дальше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331720"/>
            <a:ext cx="4769967" cy="3200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Helvetica Neue"/>
              </a:rPr>
              <a:t>—  Временной ряд S1 вместо пары: опорная вода и сезонная норма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Helvetica Neue"/>
              </a:rPr>
              <a:t>—  Расширение выборки событиями 2013 и 2022 гг.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Helvetica Neue"/>
              </a:rPr>
              <a:t>—  Слой double-bounce для затопленной растительности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Helvetica Neue"/>
              </a:rPr>
              <a:t>—  Агрегация по бассейнам, связка с уровнями Росгидромета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Helvetica Neue"/>
              </a:rPr>
              <a:t>—  Инкрементальный контур обновления — в продукт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